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82CE"/>
                </a:solidFill>
              </a:defRPr>
            </a:pPr>
            <a:r>
              <a:t>ВСЕРОССИЙСКИЙ ХАКАТОН «ИТ-ПРОРЫВ»</a:t>
            </a:r>
          </a:p>
          <a:p>
            <a:pPr>
              <a:defRPr sz="3600" b="1">
                <a:solidFill>
                  <a:srgbClr val="2D3748"/>
                </a:solidFill>
              </a:defRPr>
            </a:pPr>
            <a:r>
              <a:t>CyberStack: Инженер Памяти</a:t>
            </a:r>
          </a:p>
          <a:p>
            <a:pPr>
              <a:defRPr sz="1700">
                <a:solidFill>
                  <a:srgbClr val="718096"/>
                </a:solidFill>
              </a:defRPr>
            </a:pPr>
            <a:r>
              <a:t>Игровое интерактивное PWA-приложение для изучения структуры данных «Стек» и принципа LIFO для подростков 12–17 лет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Номинация: «Мобильная разработка» | Кейс: «Мобильное приложение для изучения программирования»</a:t>
            </a:r>
            <a:br/>
            <a:r>
              <a:t>Разработчик: Школьная команда «CyberStack»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ХАКАТОН «ИТ-ПРОРЫВ» | НОМИНАЦИЯ «МОБИЛЬНАЯ РАЗРАБОТКА»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</a:defRPr>
            </a:pPr>
            <a:r>
              <a:t>1. Название и идея приложения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Проблема обучения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• Перегруз скучной теорией:</a:t>
            </a:r>
            <a:br/>
            <a:r>
              <a:t>Начинающие программисты быстро теряют интерес из-за обилия сухого текста и отсутствия наглядности.</a:t>
            </a:r>
          </a:p>
          <a:p>
            <a:br/>
            <a:pPr>
              <a:defRPr sz="1400">
                <a:solidFill>
                  <a:srgbClr val="2D3748"/>
                </a:solidFill>
              </a:defRPr>
            </a:pPr>
            <a:r>
              <a:t>• Однотипные задания:</a:t>
            </a:r>
            <a:br/>
            <a:r>
              <a:t>Большинство приложений сводятся к банальным тестам с выбором 1 варианта из 4.</a:t>
            </a:r>
          </a:p>
          <a:p>
            <a:br/>
            <a:pPr>
              <a:defRPr sz="1400">
                <a:solidFill>
                  <a:srgbClr val="2D3748"/>
                </a:solidFill>
              </a:defRPr>
            </a:pPr>
            <a:r>
              <a:t>• Отложенный результат:</a:t>
            </a:r>
            <a:br/>
            <a:r>
              <a:t>Подросток не понимает, зачем нужна изучаемая конструкция в реальной разработке.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Наше решение: CyberStack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• Формат «Лабораторного скетчбука»:</a:t>
            </a:r>
            <a:br/>
            <a:r>
              <a:t>Интерфейс на легком фреймворке PaperCSS воспринимается как интерактивная тетрадь юного изобретателя.</a:t>
            </a:r>
          </a:p>
          <a:p>
            <a:br/>
            <a:pPr>
              <a:defRPr sz="1400">
                <a:solidFill>
                  <a:srgbClr val="2D3748"/>
                </a:solidFill>
              </a:defRPr>
            </a:pPr>
            <a:r>
              <a:t>• Физический интерактивный симулятор:</a:t>
            </a:r>
            <a:br/>
            <a:r>
              <a:t>Ученик своими руками пушит (PUSH) и достает (POP) блоки памяти в анимированном реакторе стека.</a:t>
            </a:r>
          </a:p>
          <a:p>
            <a:br/>
            <a:pPr>
              <a:defRPr sz="1400">
                <a:solidFill>
                  <a:srgbClr val="2D3748"/>
                </a:solidFill>
              </a:defRPr>
            </a:pPr>
            <a:r>
              <a:t>• Робот-напарник Байт:</a:t>
            </a:r>
            <a:br/>
            <a:r>
              <a:t>Бортовой ИИ-ассистент, готовый объяснить термины простыми словами и дать контекстную подсказку.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ХАКАТОН «ИТ-ПРОРЫВ» | НОМИНАЦИЯ «МОБИЛЬНАЯ РАЗРАБОТКА»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</a:defRPr>
            </a:pPr>
            <a:r>
              <a:t>2. Выбранная возрастная группа и её потребности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Портрет аудитории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Подростки 12–17 лет:</a:t>
            </a:r>
            <a:br/>
            <a:r>
              <a:t>• Школьники 7–11 классов</a:t>
            </a:r>
            <a:br/>
            <a:r>
              <a:t>• Изучают информатику и готовятся к ОГЭ/ЕГЭ</a:t>
            </a:r>
            <a:br/>
            <a:r>
              <a:t>• Интересуются геймдевом и алгоритмами</a:t>
            </a:r>
            <a:br/>
            <a:r>
              <a:t>• Привыкли к быстрым интерактивным приложениям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Ключевые потребности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Что важно подростку:</a:t>
            </a:r>
            <a:br/>
            <a:r>
              <a:t>• Короткие уроки (3–5 мин)</a:t>
            </a:r>
            <a:br/>
            <a:r>
              <a:t>• Понятный язык без академического занудства</a:t>
            </a:r>
            <a:br/>
            <a:r>
              <a:t>• Игровой отклик на действия</a:t>
            </a:r>
            <a:br/>
            <a:r>
              <a:t>• Безопасность: без регистрации и ввода личных данных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Ответ в CyberStack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Реализация в проекте:</a:t>
            </a:r>
            <a:br/>
            <a:r>
              <a:t>• Модульная структура микрообучения</a:t>
            </a:r>
            <a:br/>
            <a:r>
              <a:t>• Реальные примеры (игры, Ctrl+Z, компилятор)</a:t>
            </a:r>
            <a:br/>
            <a:r>
              <a:t>• Награды (XP, бейджи, ранги)</a:t>
            </a:r>
            <a:br/>
            <a:r>
              <a:t>• PWA: мгновенный старт без учетных записей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ХАКАТОН «ИТ-ПРОРЫВ» | НОМИНАЦИЯ «МОБИЛЬНАЯ РАЗРАБОТКА»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</a:defRPr>
            </a:pPr>
            <a:r>
              <a:t>3. Тема: Структура данных Стек и принцип LIFO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Почему это небанально?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• Отказ от банальных тем:</a:t>
            </a:r>
            <a:br/>
            <a:r>
              <a:t>Большинство проектов берут переменные или циклы. Стек — это фундамент алгоритмов и олимпиадной информатики.</a:t>
            </a:r>
            <a:br/>
            <a:br/>
            <a:r>
              <a:t>• Профильный школьный уровень:</a:t>
            </a:r>
            <a:br/>
            <a:r>
              <a:t>Тема входит в программу углубленной информатики и заданий ЕГЭ (анализ вложенных конструкций, вызовы функций).</a:t>
            </a:r>
            <a:br/>
            <a:br/>
            <a:r>
              <a:t>• Визуальная наглядность:</a:t>
            </a:r>
            <a:br/>
            <a:r>
              <a:t>Стек идеально визуализируется физической моделью стопки.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Практическое применение в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Где работает стек в реальном мире:</a:t>
            </a:r>
            <a:br/>
            <a:br/>
            <a:r>
              <a:t>1. История действий (Undo / Ctrl+Z):</a:t>
            </a:r>
            <a:br/>
            <a:r>
              <a:t>Отмена изменений в Figma, Фотошопе и текстовых процессорах.</a:t>
            </a:r>
            <a:br/>
            <a:br/>
            <a:r>
              <a:t>2. Навигация браузера:</a:t>
            </a:r>
            <a:br/>
            <a:r>
              <a:t>Кнопки «Назад» и «Вперед» сохраняют адреса в стеке истории.</a:t>
            </a:r>
            <a:br/>
            <a:br/>
            <a:r>
              <a:t>3. Анализ синтаксиса компилятором:</a:t>
            </a:r>
            <a:br/>
            <a:r>
              <a:t>Проверка баланса скобок {} [] () в средах разработки (VS Code, PyCharm).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ХАКАТОН «ИТ-ПРОРЫВ» | НОМИНАЦИЯ «МОБИЛЬНАЯ РАЗРАБОТКА»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</a:defRPr>
            </a:pPr>
            <a:r>
              <a:t>4. Структура образовательного маршрута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Урок 1: Башня Памяти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82CE"/>
                </a:solidFill>
              </a:defRPr>
            </a:pPr>
            <a:r>
              <a:t>Основы LIFO, операции PUSH и POP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• Аналогия со стопкой тарелок</a:t>
            </a:r>
            <a:br/>
            <a:r>
              <a:t>• Команды PUSH (положить) и POP (снять)</a:t>
            </a:r>
            <a:br/>
            <a:r>
              <a:t>• Интерактивная песочница LIFO</a:t>
            </a:r>
            <a:br/>
            <a:r>
              <a:t>• Практика: сборка чипов для робота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Урок 2: Машина Времени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82CE"/>
                </a:solidFill>
              </a:defRPr>
            </a:pPr>
            <a:r>
              <a:t>Стек отмены (Ctrl+Z) в редакторах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• Как программы запоминают действия</a:t>
            </a:r>
            <a:br/>
            <a:r>
              <a:t>• Почему отмена требует реверса (LIFO)</a:t>
            </a:r>
            <a:br/>
            <a:r>
              <a:t>• Практика: восстановление цепочки отмены при сбое манипулятора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Урок 3: Детектив Скобок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82CE"/>
                </a:solidFill>
              </a:defRPr>
            </a:pPr>
            <a:r>
              <a:t>Как компилятор ищет SyntaxError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• Алгоритм проверки парности скобок</a:t>
            </a:r>
            <a:br/>
            <a:r>
              <a:t>• Сопоставление открывающих и закрывающих</a:t>
            </a:r>
            <a:br/>
            <a:r>
              <a:t>• Практика: нахождение синтаксического бага в квантовом ядре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ХАКАТОН «ИТ-ПРОРЫВ» | НОМИНАЦИЯ «МОБИЛЬНАЯ РАЗРАБОТКА»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</a:defRPr>
            </a:pPr>
            <a:r>
              <a:t>5. Разнообразие практических заданий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Формат 1: Интерактивный сборщик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F855A"/>
                </a:solidFill>
              </a:defRPr>
            </a:pPr>
            <a:r>
              <a:t>Урок 1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Ученик управляет пультом команд (+PUSH Синий, +PUSH Золотой, -POP). Задача — загрузить в стек чипы памяти в строгом порядке снизу вверх, учитывая правило LIFO.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Формат 2: Восстановление порядка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F855A"/>
                </a:solidFill>
              </a:defRPr>
            </a:pPr>
            <a:r>
              <a:t>Урок 2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Манипулятор выполнил 4 действия и застрял. Ученик кликает по карточкам действий в порядке их отмены, восстанавливая безопасную последовательность Undo.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Формат 3: Синтаксический детектив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F855A"/>
                </a:solidFill>
              </a:defRPr>
            </a:pPr>
            <a:r>
              <a:t>Урок 3</a:t>
            </a:r>
          </a:p>
          <a:p>
            <a:br/>
            <a:pPr>
              <a:defRPr sz="1300">
                <a:solidFill>
                  <a:srgbClr val="2D3748"/>
                </a:solidFill>
              </a:defRPr>
            </a:pPr>
            <a:r>
              <a:t>Дана строка кода с ошибкой валидации скобок {[()]}. Ученик анализирует вершину стека и определяет, почему компилятор забраковал символ и какой тип ожидался.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ХАКАТОН «ИТ-ПРОРЫВ» | НОМИНАЦИЯ «МОБИЛЬНАЯ РАЗРАБОТКА»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</a:defRPr>
            </a:pPr>
            <a:r>
              <a:t>6. Игровая механика и система прогресса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Игровые стимулы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• Очки опыта (XP):</a:t>
            </a:r>
            <a:br/>
            <a:r>
              <a:t>Начисляются за успешное решение задач (+60, +70, +80 XP).</a:t>
            </a:r>
            <a:br/>
            <a:br/>
            <a:r>
              <a:t>• Инженерные ранги:</a:t>
            </a:r>
            <a:br/>
            <a:r>
              <a:t>Стажёр Блокнота → Оператор Стека → Мастер LIFO.</a:t>
            </a:r>
            <a:br/>
            <a:br/>
            <a:r>
              <a:t>• Коллекция из 6 бейджей:</a:t>
            </a:r>
            <a:br/>
            <a:r>
              <a:t>«Первый PUSH», «Чистый Код», «Мастер Ctrl+Z», «Парсер Скобок», «Диплом LIFO», «Друг Байта».</a:t>
            </a:r>
            <a:br/>
            <a:br/>
            <a:r>
              <a:t>• Именной сертификат:</a:t>
            </a:r>
            <a:br/>
            <a:r>
              <a:t>Генерируется на финальном экране со штампом ОТК.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Мультимедиа и интерактив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• Физический симулятор стека:</a:t>
            </a:r>
            <a:br/>
            <a:r>
              <a:t>Анимированное падение чипов в стакан памяти и вылет при POP.</a:t>
            </a:r>
            <a:br/>
            <a:br/>
            <a:r>
              <a:t>• Процедурный звук (Web Audio API):</a:t>
            </a:r>
            <a:br/>
            <a:r>
              <a:t>Синтезирует приятные клики, всплытие чипа, победный аккорд и фанфары прямо в коде (без сторонних mp3 файлов).</a:t>
            </a:r>
            <a:br/>
            <a:br/>
            <a:r>
              <a:t>• Управление звуком:</a:t>
            </a:r>
            <a:br/>
            <a:r>
              <a:t>Кнопка быстрого включения/отключения аудиоэффектов.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ХАКАТОН «ИТ-ПРОРЫВ» | НОМИНАЦИЯ «МОБИЛЬНАЯ РАЗРАБОТКА»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</a:defRPr>
            </a:pPr>
            <a:r>
              <a:t>7. Пользовательский путь (User Journey)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1. Старт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Стартовый экран с идеей и кнопкой начала обучения.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2. Онбординг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Вводный гайд: правила, механики наград и напарник Байт.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3. Карта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Индикация прогресса (0-100%), выбор доступного урока.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4. Теория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Краткое объяснение + песочница LIFO для закрепления.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14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5. Практика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8055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Выполнение задания, проверка, подсказки при ошибке.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114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6. Финал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48055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Сертификат инженера, итоговые XP и бейджи.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ХАКАТОН «ИТ-ПРОРЫВ» | НОМИНАЦИЯ «МОБИЛЬНАЯ РАЗРАБОТКА»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</a:defRPr>
            </a:pPr>
            <a:r>
              <a:t>8. Использованные технологии и ИИ-помощник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Технологический стек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• PWA (Progressive Web App):</a:t>
            </a:r>
            <a:br/>
            <a:r>
              <a:t>Устанавливается на экран смартфона, работает офлайн благодаря Service Worker (кэш Cache-First).</a:t>
            </a:r>
            <a:br/>
            <a:br/>
            <a:r>
              <a:t>• PaperCSS + Vanilla CSS:</a:t>
            </a:r>
            <a:br/>
            <a:r>
              <a:t>Стиль лабораторного скетчбука, кастомные анимации падающих чипов, адаптивность.</a:t>
            </a:r>
            <a:br/>
            <a:br/>
            <a:r>
              <a:t>• Чистый JavaScript (ES6):</a:t>
            </a:r>
            <a:br/>
            <a:r>
              <a:t>Понятный модульный код (app.js, state.js, lessons.js, bot.js, audio.js).</a:t>
            </a:r>
            <a:br/>
            <a:br/>
            <a:r>
              <a:t>• Web Storage (localStorage):</a:t>
            </a:r>
            <a:br/>
            <a:r>
              <a:t>Сохранение прогресса без серверов и баз данных.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Бортовой робот Байт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• 100% Автономность:</a:t>
            </a:r>
            <a:br/>
            <a:r>
              <a:t>Работает полностью офлайн на локальном семантическом движке правил и базы знаний.</a:t>
            </a:r>
            <a:br/>
            <a:br/>
            <a:r>
              <a:t>• Контекстные подсказки:</a:t>
            </a:r>
            <a:br/>
            <a:r>
              <a:t>Знает, на каком уроке находится ученик, и помогает разобрать текущую задачу.</a:t>
            </a:r>
            <a:br/>
            <a:br/>
            <a:r>
              <a:t>• Защита персональных данных:</a:t>
            </a:r>
            <a:br/>
            <a:r>
              <a:t>Не запрашивает и не сохраняет личные данные (требование кейса).</a:t>
            </a:r>
            <a:br/>
            <a:br/>
            <a:r>
              <a:t>• Оффтоп-контроль:</a:t>
            </a:r>
            <a:br/>
            <a:r>
              <a:t>Вежливо возвращает ученика к алгоритмам при посторонних вопросах.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ХАКАТОН «ИТ-ПРОРЫВ» | НОМИНАЦИЯ «МОБИЛЬНАЯ РАЗРАБОТКА»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</a:defRPr>
            </a:pPr>
            <a:r>
              <a:t>9. Интерфейс работающего прототипа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Старт и Карта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Стартовый экран и наглядная карта с индикатором прогресса уроков и блокнотом наград.</a:t>
            </a:r>
          </a:p>
          <a:p>
            <a:br/>
            <a:pPr>
              <a:defRPr sz="1300">
                <a:solidFill>
                  <a:srgbClr val="718096"/>
                </a:solidFill>
              </a:defRPr>
            </a:pPr>
            <a:r>
              <a:t>• Адаптировано под мобильные экраны (360–430px)</a:t>
            </a:r>
            <a:br/>
            <a:r>
              <a:t>• Крупные тач-кнопки</a:t>
            </a:r>
            <a:br/>
            <a:r>
              <a:t>• Плавные анимации и звуковой отклик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Урок и Симулятор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Интерактивный стакан памяти: кнопки PUSH и POP визуально наполняют стек чипами.</a:t>
            </a:r>
          </a:p>
          <a:p>
            <a:br/>
            <a:pPr>
              <a:defRPr sz="1300">
                <a:solidFill>
                  <a:srgbClr val="718096"/>
                </a:solidFill>
              </a:defRPr>
            </a:pPr>
            <a:r>
              <a:t>• Адаптировано под мобильные экраны (360–430px)</a:t>
            </a:r>
            <a:br/>
            <a:r>
              <a:t>• Крупные тач-кнопки</a:t>
            </a:r>
            <a:br/>
            <a:r>
              <a:t>• Плавные анимации и звуковой отклик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ИИ-Бот и Финал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Выдвижной диалог с роботом Байтом и итоговый экран с именным сертификатом инженера.</a:t>
            </a:r>
          </a:p>
          <a:p>
            <a:br/>
            <a:pPr>
              <a:defRPr sz="1300">
                <a:solidFill>
                  <a:srgbClr val="718096"/>
                </a:solidFill>
              </a:defRPr>
            </a:pPr>
            <a:r>
              <a:t>• Адаптировано под мобильные экраны (360–430px)</a:t>
            </a:r>
            <a:br/>
            <a:r>
              <a:t>• Крупные тач-кнопки</a:t>
            </a:r>
            <a:br/>
            <a:r>
              <a:t>• Плавные анимации и звуковой отклик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ХАКАТОН «ИТ-ПРОРЫВ» | НОМИНАЦИЯ «МОБИЛЬНАЯ РАЗРАБОТКА»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D3748"/>
                </a:solidFill>
              </a:defRPr>
            </a:pPr>
            <a:r>
              <a:t>10. Команда и распределение ролей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Капитан &amp; Методист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Проработка темы «Стек и LIFO», методическая адаптация теории для возраста 12–17 лет, тексты уроков и формулировка заданий.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Frontend-разработчик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Верстка интерфейса на HTML5, адаптация PaperCSS, реализация PWA-манифеста и сервисного воркера офлайн-доступа.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JS &amp; Game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Логика управления состоянием (state.js), физический симулятор стакана стека, проверка заданий и Web Audio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14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AI &amp; UX / Тестирование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</a:defRPr>
            </a:pPr>
            <a:r>
              <a:t>Разработка базы знаний и логики робота Байта, сценарий видеоролика, мобильное тестирование и подготовка презентации.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